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3DDAA9-2405-773E-D05B-275C1431E419}" v="196" dt="2026-04-23T04:17:05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817EDB-07DD-4121-A06B-AEF29875543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0A34DF8-2FAB-4F3E-B6B9-C9F36F59CC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110004020202020204"/>
            </a:rPr>
            <a:t>Monte</a:t>
          </a:r>
          <a:r>
            <a:rPr lang="en-US"/>
            <a:t> Carlo: models system-level revenue under five scenarios, answers the policy question</a:t>
          </a:r>
        </a:p>
      </dgm:t>
    </dgm:pt>
    <dgm:pt modelId="{25600F26-DE5A-492A-84D6-468423CB5E7E}" type="parTrans" cxnId="{AD9C0E7C-1AA1-4BDD-B5E1-4003B10B35CD}">
      <dgm:prSet/>
      <dgm:spPr/>
      <dgm:t>
        <a:bodyPr/>
        <a:lstStyle/>
        <a:p>
          <a:endParaRPr lang="en-US"/>
        </a:p>
      </dgm:t>
    </dgm:pt>
    <dgm:pt modelId="{6B5820C1-DB21-442E-8DDE-FB1AC7975A7D}" type="sibTrans" cxnId="{AD9C0E7C-1AA1-4BDD-B5E1-4003B10B35CD}">
      <dgm:prSet/>
      <dgm:spPr/>
      <dgm:t>
        <a:bodyPr/>
        <a:lstStyle/>
        <a:p>
          <a:endParaRPr lang="en-US"/>
        </a:p>
      </dgm:t>
    </dgm:pt>
    <dgm:pt modelId="{8D5CD723-A97A-400D-8E27-29920A532A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Linear Regression: identifies which features drive team revenue, answers the interpretability question</a:t>
          </a:r>
        </a:p>
      </dgm:t>
    </dgm:pt>
    <dgm:pt modelId="{B47D2483-61B0-4B0E-8AB2-D78200BC67AF}" type="parTrans" cxnId="{494CBED9-0E59-420C-A251-15EDEFFDCE3E}">
      <dgm:prSet/>
      <dgm:spPr/>
      <dgm:t>
        <a:bodyPr/>
        <a:lstStyle/>
        <a:p>
          <a:endParaRPr lang="en-US"/>
        </a:p>
      </dgm:t>
    </dgm:pt>
    <dgm:pt modelId="{87F05598-4AA8-4EEA-8B96-0A709C63B95C}" type="sibTrans" cxnId="{494CBED9-0E59-420C-A251-15EDEFFDCE3E}">
      <dgm:prSet/>
      <dgm:spPr/>
      <dgm:t>
        <a:bodyPr/>
        <a:lstStyle/>
        <a:p>
          <a:endParaRPr lang="en-US"/>
        </a:p>
      </dgm:t>
    </dgm:pt>
    <dgm:pt modelId="{807D2299-C7CF-4087-912A-7F447357D5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Random Forest: maximizes predictive accuracy on unseen data, answers the validation question</a:t>
          </a:r>
        </a:p>
      </dgm:t>
    </dgm:pt>
    <dgm:pt modelId="{47FE2AD8-CAB4-466A-B42D-A67C423FAC1D}" type="parTrans" cxnId="{96BD273D-FB03-4B48-AE7C-A4077122C49B}">
      <dgm:prSet/>
      <dgm:spPr/>
      <dgm:t>
        <a:bodyPr/>
        <a:lstStyle/>
        <a:p>
          <a:endParaRPr lang="en-US"/>
        </a:p>
      </dgm:t>
    </dgm:pt>
    <dgm:pt modelId="{12AC01F8-4084-4CD9-9971-F68A5495D13D}" type="sibTrans" cxnId="{96BD273D-FB03-4B48-AE7C-A4077122C49B}">
      <dgm:prSet/>
      <dgm:spPr/>
      <dgm:t>
        <a:bodyPr/>
        <a:lstStyle/>
        <a:p>
          <a:endParaRPr lang="en-US"/>
        </a:p>
      </dgm:t>
    </dgm:pt>
    <dgm:pt modelId="{84CB5DBA-9B93-45E3-81C0-99D8BD30406F}" type="pres">
      <dgm:prSet presAssocID="{42817EDB-07DD-4121-A06B-AEF298755439}" presName="root" presStyleCnt="0">
        <dgm:presLayoutVars>
          <dgm:dir/>
          <dgm:resizeHandles val="exact"/>
        </dgm:presLayoutVars>
      </dgm:prSet>
      <dgm:spPr/>
    </dgm:pt>
    <dgm:pt modelId="{5A0E61DD-89B8-48BB-9A8C-95F1B1D18127}" type="pres">
      <dgm:prSet presAssocID="{30A34DF8-2FAB-4F3E-B6B9-C9F36F59CC5E}" presName="compNode" presStyleCnt="0"/>
      <dgm:spPr/>
    </dgm:pt>
    <dgm:pt modelId="{9F96091D-8D94-4D49-8C20-99C91FCB1D09}" type="pres">
      <dgm:prSet presAssocID="{30A34DF8-2FAB-4F3E-B6B9-C9F36F59CC5E}" presName="bgRect" presStyleLbl="bgShp" presStyleIdx="0" presStyleCnt="3"/>
      <dgm:spPr/>
    </dgm:pt>
    <dgm:pt modelId="{31844B6E-F0EC-419D-A0D0-89E64D92F1AB}" type="pres">
      <dgm:prSet presAssocID="{30A34DF8-2FAB-4F3E-B6B9-C9F36F59CC5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6C9D4D1C-8844-42D4-9E22-51E087BE37CA}" type="pres">
      <dgm:prSet presAssocID="{30A34DF8-2FAB-4F3E-B6B9-C9F36F59CC5E}" presName="spaceRect" presStyleCnt="0"/>
      <dgm:spPr/>
    </dgm:pt>
    <dgm:pt modelId="{6F8DE0D9-DA2C-4F70-B4F1-28D651301F9B}" type="pres">
      <dgm:prSet presAssocID="{30A34DF8-2FAB-4F3E-B6B9-C9F36F59CC5E}" presName="parTx" presStyleLbl="revTx" presStyleIdx="0" presStyleCnt="3">
        <dgm:presLayoutVars>
          <dgm:chMax val="0"/>
          <dgm:chPref val="0"/>
        </dgm:presLayoutVars>
      </dgm:prSet>
      <dgm:spPr/>
    </dgm:pt>
    <dgm:pt modelId="{06551677-3B66-4CE6-A529-53304139BB50}" type="pres">
      <dgm:prSet presAssocID="{6B5820C1-DB21-442E-8DDE-FB1AC7975A7D}" presName="sibTrans" presStyleCnt="0"/>
      <dgm:spPr/>
    </dgm:pt>
    <dgm:pt modelId="{BCAECCA4-C83A-44EF-A784-9BC0477F1855}" type="pres">
      <dgm:prSet presAssocID="{8D5CD723-A97A-400D-8E27-29920A532AAD}" presName="compNode" presStyleCnt="0"/>
      <dgm:spPr/>
    </dgm:pt>
    <dgm:pt modelId="{8A45270F-F8C3-436C-94AB-0499D7BE2011}" type="pres">
      <dgm:prSet presAssocID="{8D5CD723-A97A-400D-8E27-29920A532AAD}" presName="bgRect" presStyleLbl="bgShp" presStyleIdx="1" presStyleCnt="3"/>
      <dgm:spPr/>
    </dgm:pt>
    <dgm:pt modelId="{1F4E5EAC-BBB4-4779-9CB9-C9031F88E458}" type="pres">
      <dgm:prSet presAssocID="{8D5CD723-A97A-400D-8E27-29920A532AA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0A46497-AD89-4011-B5C8-744667A1DFC5}" type="pres">
      <dgm:prSet presAssocID="{8D5CD723-A97A-400D-8E27-29920A532AAD}" presName="spaceRect" presStyleCnt="0"/>
      <dgm:spPr/>
    </dgm:pt>
    <dgm:pt modelId="{FEA4620D-2263-43F9-936E-8917A9DAB172}" type="pres">
      <dgm:prSet presAssocID="{8D5CD723-A97A-400D-8E27-29920A532AAD}" presName="parTx" presStyleLbl="revTx" presStyleIdx="1" presStyleCnt="3">
        <dgm:presLayoutVars>
          <dgm:chMax val="0"/>
          <dgm:chPref val="0"/>
        </dgm:presLayoutVars>
      </dgm:prSet>
      <dgm:spPr/>
    </dgm:pt>
    <dgm:pt modelId="{A312DD0B-417A-4216-834D-556B5F2EAFA8}" type="pres">
      <dgm:prSet presAssocID="{87F05598-4AA8-4EEA-8B96-0A709C63B95C}" presName="sibTrans" presStyleCnt="0"/>
      <dgm:spPr/>
    </dgm:pt>
    <dgm:pt modelId="{E5026C25-E5A6-4118-8E8E-856E5F3D3984}" type="pres">
      <dgm:prSet presAssocID="{807D2299-C7CF-4087-912A-7F447357D570}" presName="compNode" presStyleCnt="0"/>
      <dgm:spPr/>
    </dgm:pt>
    <dgm:pt modelId="{E29051BA-F0E2-4F88-8231-E7503FA85B00}" type="pres">
      <dgm:prSet presAssocID="{807D2299-C7CF-4087-912A-7F447357D570}" presName="bgRect" presStyleLbl="bgShp" presStyleIdx="2" presStyleCnt="3"/>
      <dgm:spPr/>
    </dgm:pt>
    <dgm:pt modelId="{23B0997E-93CC-4307-A878-6F2C506AE234}" type="pres">
      <dgm:prSet presAssocID="{807D2299-C7CF-4087-912A-7F447357D57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16185E44-8476-40D1-8D5A-497F4FEC1D65}" type="pres">
      <dgm:prSet presAssocID="{807D2299-C7CF-4087-912A-7F447357D570}" presName="spaceRect" presStyleCnt="0"/>
      <dgm:spPr/>
    </dgm:pt>
    <dgm:pt modelId="{9FE98AC9-1BB4-4CCF-9C55-20E9C4EE4AB8}" type="pres">
      <dgm:prSet presAssocID="{807D2299-C7CF-4087-912A-7F447357D57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6BBA20D-C0B0-43CD-A4E8-A5A3858CF559}" type="presOf" srcId="{807D2299-C7CF-4087-912A-7F447357D570}" destId="{9FE98AC9-1BB4-4CCF-9C55-20E9C4EE4AB8}" srcOrd="0" destOrd="0" presId="urn:microsoft.com/office/officeart/2018/2/layout/IconVerticalSolidList"/>
    <dgm:cxn modelId="{22AF9313-BE0A-4AE2-AB71-6AA1F96C8E76}" type="presOf" srcId="{30A34DF8-2FAB-4F3E-B6B9-C9F36F59CC5E}" destId="{6F8DE0D9-DA2C-4F70-B4F1-28D651301F9B}" srcOrd="0" destOrd="0" presId="urn:microsoft.com/office/officeart/2018/2/layout/IconVerticalSolidList"/>
    <dgm:cxn modelId="{02ED4D1E-9018-47F8-A1FA-ABE15B19A6AF}" type="presOf" srcId="{42817EDB-07DD-4121-A06B-AEF298755439}" destId="{84CB5DBA-9B93-45E3-81C0-99D8BD30406F}" srcOrd="0" destOrd="0" presId="urn:microsoft.com/office/officeart/2018/2/layout/IconVerticalSolidList"/>
    <dgm:cxn modelId="{96BD273D-FB03-4B48-AE7C-A4077122C49B}" srcId="{42817EDB-07DD-4121-A06B-AEF298755439}" destId="{807D2299-C7CF-4087-912A-7F447357D570}" srcOrd="2" destOrd="0" parTransId="{47FE2AD8-CAB4-466A-B42D-A67C423FAC1D}" sibTransId="{12AC01F8-4084-4CD9-9971-F68A5495D13D}"/>
    <dgm:cxn modelId="{AD9C0E7C-1AA1-4BDD-B5E1-4003B10B35CD}" srcId="{42817EDB-07DD-4121-A06B-AEF298755439}" destId="{30A34DF8-2FAB-4F3E-B6B9-C9F36F59CC5E}" srcOrd="0" destOrd="0" parTransId="{25600F26-DE5A-492A-84D6-468423CB5E7E}" sibTransId="{6B5820C1-DB21-442E-8DDE-FB1AC7975A7D}"/>
    <dgm:cxn modelId="{32BF5FC4-0FD8-4435-A8C0-4915C17B2071}" type="presOf" srcId="{8D5CD723-A97A-400D-8E27-29920A532AAD}" destId="{FEA4620D-2263-43F9-936E-8917A9DAB172}" srcOrd="0" destOrd="0" presId="urn:microsoft.com/office/officeart/2018/2/layout/IconVerticalSolidList"/>
    <dgm:cxn modelId="{494CBED9-0E59-420C-A251-15EDEFFDCE3E}" srcId="{42817EDB-07DD-4121-A06B-AEF298755439}" destId="{8D5CD723-A97A-400D-8E27-29920A532AAD}" srcOrd="1" destOrd="0" parTransId="{B47D2483-61B0-4B0E-8AB2-D78200BC67AF}" sibTransId="{87F05598-4AA8-4EEA-8B96-0A709C63B95C}"/>
    <dgm:cxn modelId="{FB955862-11ED-408A-B921-2B1160C93021}" type="presParOf" srcId="{84CB5DBA-9B93-45E3-81C0-99D8BD30406F}" destId="{5A0E61DD-89B8-48BB-9A8C-95F1B1D18127}" srcOrd="0" destOrd="0" presId="urn:microsoft.com/office/officeart/2018/2/layout/IconVerticalSolidList"/>
    <dgm:cxn modelId="{8956F0B8-E1CD-4F22-ACE1-0C32F3E658D0}" type="presParOf" srcId="{5A0E61DD-89B8-48BB-9A8C-95F1B1D18127}" destId="{9F96091D-8D94-4D49-8C20-99C91FCB1D09}" srcOrd="0" destOrd="0" presId="urn:microsoft.com/office/officeart/2018/2/layout/IconVerticalSolidList"/>
    <dgm:cxn modelId="{4AF4F6F3-CEB4-4B83-813C-8F3232552776}" type="presParOf" srcId="{5A0E61DD-89B8-48BB-9A8C-95F1B1D18127}" destId="{31844B6E-F0EC-419D-A0D0-89E64D92F1AB}" srcOrd="1" destOrd="0" presId="urn:microsoft.com/office/officeart/2018/2/layout/IconVerticalSolidList"/>
    <dgm:cxn modelId="{6B3C26E1-E055-414C-ADE4-D4D377B5E9B2}" type="presParOf" srcId="{5A0E61DD-89B8-48BB-9A8C-95F1B1D18127}" destId="{6C9D4D1C-8844-42D4-9E22-51E087BE37CA}" srcOrd="2" destOrd="0" presId="urn:microsoft.com/office/officeart/2018/2/layout/IconVerticalSolidList"/>
    <dgm:cxn modelId="{7130F26A-9FB2-4EB5-9A84-EB7B51F27F3F}" type="presParOf" srcId="{5A0E61DD-89B8-48BB-9A8C-95F1B1D18127}" destId="{6F8DE0D9-DA2C-4F70-B4F1-28D651301F9B}" srcOrd="3" destOrd="0" presId="urn:microsoft.com/office/officeart/2018/2/layout/IconVerticalSolidList"/>
    <dgm:cxn modelId="{1D463CC1-7265-4D45-9C25-98A2FB7977DB}" type="presParOf" srcId="{84CB5DBA-9B93-45E3-81C0-99D8BD30406F}" destId="{06551677-3B66-4CE6-A529-53304139BB50}" srcOrd="1" destOrd="0" presId="urn:microsoft.com/office/officeart/2018/2/layout/IconVerticalSolidList"/>
    <dgm:cxn modelId="{D7B8FBB3-7C59-44C4-A769-50B9F8451612}" type="presParOf" srcId="{84CB5DBA-9B93-45E3-81C0-99D8BD30406F}" destId="{BCAECCA4-C83A-44EF-A784-9BC0477F1855}" srcOrd="2" destOrd="0" presId="urn:microsoft.com/office/officeart/2018/2/layout/IconVerticalSolidList"/>
    <dgm:cxn modelId="{BB5A110D-D91A-4756-8201-C4275074D8B3}" type="presParOf" srcId="{BCAECCA4-C83A-44EF-A784-9BC0477F1855}" destId="{8A45270F-F8C3-436C-94AB-0499D7BE2011}" srcOrd="0" destOrd="0" presId="urn:microsoft.com/office/officeart/2018/2/layout/IconVerticalSolidList"/>
    <dgm:cxn modelId="{5E803EC0-FC8D-4058-8DA0-BBD6480CC841}" type="presParOf" srcId="{BCAECCA4-C83A-44EF-A784-9BC0477F1855}" destId="{1F4E5EAC-BBB4-4779-9CB9-C9031F88E458}" srcOrd="1" destOrd="0" presId="urn:microsoft.com/office/officeart/2018/2/layout/IconVerticalSolidList"/>
    <dgm:cxn modelId="{645ED72B-0EAC-4F1C-B263-B3B7CB9F9848}" type="presParOf" srcId="{BCAECCA4-C83A-44EF-A784-9BC0477F1855}" destId="{D0A46497-AD89-4011-B5C8-744667A1DFC5}" srcOrd="2" destOrd="0" presId="urn:microsoft.com/office/officeart/2018/2/layout/IconVerticalSolidList"/>
    <dgm:cxn modelId="{2D7F4DA6-9745-4820-AC05-507EA4F87160}" type="presParOf" srcId="{BCAECCA4-C83A-44EF-A784-9BC0477F1855}" destId="{FEA4620D-2263-43F9-936E-8917A9DAB172}" srcOrd="3" destOrd="0" presId="urn:microsoft.com/office/officeart/2018/2/layout/IconVerticalSolidList"/>
    <dgm:cxn modelId="{D8388B51-C1C9-4CD6-A829-0D0BDA85E84D}" type="presParOf" srcId="{84CB5DBA-9B93-45E3-81C0-99D8BD30406F}" destId="{A312DD0B-417A-4216-834D-556B5F2EAFA8}" srcOrd="3" destOrd="0" presId="urn:microsoft.com/office/officeart/2018/2/layout/IconVerticalSolidList"/>
    <dgm:cxn modelId="{CF5C5DC1-E9DB-4800-9609-4C05486A203C}" type="presParOf" srcId="{84CB5DBA-9B93-45E3-81C0-99D8BD30406F}" destId="{E5026C25-E5A6-4118-8E8E-856E5F3D3984}" srcOrd="4" destOrd="0" presId="urn:microsoft.com/office/officeart/2018/2/layout/IconVerticalSolidList"/>
    <dgm:cxn modelId="{2F4FC692-3E03-400D-B00F-648EEA2AECDA}" type="presParOf" srcId="{E5026C25-E5A6-4118-8E8E-856E5F3D3984}" destId="{E29051BA-F0E2-4F88-8231-E7503FA85B00}" srcOrd="0" destOrd="0" presId="urn:microsoft.com/office/officeart/2018/2/layout/IconVerticalSolidList"/>
    <dgm:cxn modelId="{DA1CBB08-A5A6-490A-A467-5F31CDACF372}" type="presParOf" srcId="{E5026C25-E5A6-4118-8E8E-856E5F3D3984}" destId="{23B0997E-93CC-4307-A878-6F2C506AE234}" srcOrd="1" destOrd="0" presId="urn:microsoft.com/office/officeart/2018/2/layout/IconVerticalSolidList"/>
    <dgm:cxn modelId="{4A949D44-F637-4FF1-BDEF-49EF2687C00E}" type="presParOf" srcId="{E5026C25-E5A6-4118-8E8E-856E5F3D3984}" destId="{16185E44-8476-40D1-8D5A-497F4FEC1D65}" srcOrd="2" destOrd="0" presId="urn:microsoft.com/office/officeart/2018/2/layout/IconVerticalSolidList"/>
    <dgm:cxn modelId="{1C1ED37D-577A-4291-9095-58DBD4B6DD63}" type="presParOf" srcId="{E5026C25-E5A6-4118-8E8E-856E5F3D3984}" destId="{9FE98AC9-1BB4-4CCF-9C55-20E9C4EE4A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7A2178-F594-41C4-9974-81AA266A7FF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80B2E1D-A56B-4C0F-894A-FC757A3996B0}">
      <dgm:prSet/>
      <dgm:spPr/>
      <dgm:t>
        <a:bodyPr/>
        <a:lstStyle/>
        <a:p>
          <a:r>
            <a:rPr lang="en-US"/>
            <a:t>Adopt relegation expands meaningful competition from 11.9% to 31.3% of programs, generating a projected $10.5B premium over 10 years</a:t>
          </a:r>
        </a:p>
      </dgm:t>
    </dgm:pt>
    <dgm:pt modelId="{7FADF0B0-4E2F-4D2A-A058-037E96251835}" type="parTrans" cxnId="{FB69766C-94EC-4B93-B705-42540D58721F}">
      <dgm:prSet/>
      <dgm:spPr/>
      <dgm:t>
        <a:bodyPr/>
        <a:lstStyle/>
        <a:p>
          <a:endParaRPr lang="en-US"/>
        </a:p>
      </dgm:t>
    </dgm:pt>
    <dgm:pt modelId="{1AAD8175-43A4-4EFC-A4E2-87C50D05DB8C}" type="sibTrans" cxnId="{FB69766C-94EC-4B93-B705-42540D58721F}">
      <dgm:prSet/>
      <dgm:spPr/>
      <dgm:t>
        <a:bodyPr/>
        <a:lstStyle/>
        <a:p>
          <a:endParaRPr lang="en-US"/>
        </a:p>
      </dgm:t>
    </dgm:pt>
    <dgm:pt modelId="{17725EFF-E949-40B8-99D6-374D0C6073CF}">
      <dgm:prSet/>
      <dgm:spPr/>
      <dgm:t>
        <a:bodyPr/>
        <a:lstStyle/>
        <a:p>
          <a:r>
            <a:rPr lang="en-US"/>
            <a:t>Implement revenue floors: set at the 5th percentile of historical volatility per tier (65%, 88%, 95%)</a:t>
          </a:r>
        </a:p>
      </dgm:t>
    </dgm:pt>
    <dgm:pt modelId="{4BA12844-2563-42E2-8662-9208F7F3766D}" type="parTrans" cxnId="{91141E12-54D1-41C3-AD33-FE6CA0538884}">
      <dgm:prSet/>
      <dgm:spPr/>
      <dgm:t>
        <a:bodyPr/>
        <a:lstStyle/>
        <a:p>
          <a:endParaRPr lang="en-US"/>
        </a:p>
      </dgm:t>
    </dgm:pt>
    <dgm:pt modelId="{9F77D74B-ADF4-48A3-BD39-3BACD3A97090}" type="sibTrans" cxnId="{91141E12-54D1-41C3-AD33-FE6CA0538884}">
      <dgm:prSet/>
      <dgm:spPr/>
      <dgm:t>
        <a:bodyPr/>
        <a:lstStyle/>
        <a:p>
          <a:endParaRPr lang="en-US"/>
        </a:p>
      </dgm:t>
    </dgm:pt>
    <dgm:pt modelId="{B34A1F0F-8ECA-4500-B450-62E75E6F175E}">
      <dgm:prSet/>
      <dgm:spPr/>
      <dgm:t>
        <a:bodyPr/>
        <a:lstStyle/>
        <a:p>
          <a:r>
            <a:rPr lang="en-US"/>
            <a:t>Prioritize competitive breadth: 16-team playoff yields identical 2.59% CAGR to the current baseline</a:t>
          </a:r>
        </a:p>
      </dgm:t>
    </dgm:pt>
    <dgm:pt modelId="{E33936A7-CA60-46A1-840E-33B416CC76E8}" type="parTrans" cxnId="{56196DAD-7C26-40C4-9BD1-10BC681C0A35}">
      <dgm:prSet/>
      <dgm:spPr/>
      <dgm:t>
        <a:bodyPr/>
        <a:lstStyle/>
        <a:p>
          <a:endParaRPr lang="en-US"/>
        </a:p>
      </dgm:t>
    </dgm:pt>
    <dgm:pt modelId="{9198A94E-6481-4DA8-BA35-DB01CECB7536}" type="sibTrans" cxnId="{56196DAD-7C26-40C4-9BD1-10BC681C0A35}">
      <dgm:prSet/>
      <dgm:spPr/>
      <dgm:t>
        <a:bodyPr/>
        <a:lstStyle/>
        <a:p>
          <a:endParaRPr lang="en-US"/>
        </a:p>
      </dgm:t>
    </dgm:pt>
    <dgm:pt modelId="{9EE0875B-AB2D-42FE-AE7D-1E9DE586EB66}" type="pres">
      <dgm:prSet presAssocID="{F17A2178-F594-41C4-9974-81AA266A7FF1}" presName="root" presStyleCnt="0">
        <dgm:presLayoutVars>
          <dgm:dir/>
          <dgm:resizeHandles val="exact"/>
        </dgm:presLayoutVars>
      </dgm:prSet>
      <dgm:spPr/>
    </dgm:pt>
    <dgm:pt modelId="{9B524B2C-18D6-4392-A153-E2DE4B37DB08}" type="pres">
      <dgm:prSet presAssocID="{880B2E1D-A56B-4C0F-894A-FC757A3996B0}" presName="compNode" presStyleCnt="0"/>
      <dgm:spPr/>
    </dgm:pt>
    <dgm:pt modelId="{4BF840C2-58E1-470A-A0FF-BD2BBC84DF84}" type="pres">
      <dgm:prSet presAssocID="{880B2E1D-A56B-4C0F-894A-FC757A3996B0}" presName="bgRect" presStyleLbl="bgShp" presStyleIdx="0" presStyleCnt="3"/>
      <dgm:spPr/>
    </dgm:pt>
    <dgm:pt modelId="{9A6C62FA-4984-475C-95AF-8CE3A06331C5}" type="pres">
      <dgm:prSet presAssocID="{880B2E1D-A56B-4C0F-894A-FC757A3996B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026B08C-3282-4ECC-AF3F-436EB9314310}" type="pres">
      <dgm:prSet presAssocID="{880B2E1D-A56B-4C0F-894A-FC757A3996B0}" presName="spaceRect" presStyleCnt="0"/>
      <dgm:spPr/>
    </dgm:pt>
    <dgm:pt modelId="{1072DAAB-C741-495D-9D18-BC54BB148828}" type="pres">
      <dgm:prSet presAssocID="{880B2E1D-A56B-4C0F-894A-FC757A3996B0}" presName="parTx" presStyleLbl="revTx" presStyleIdx="0" presStyleCnt="3">
        <dgm:presLayoutVars>
          <dgm:chMax val="0"/>
          <dgm:chPref val="0"/>
        </dgm:presLayoutVars>
      </dgm:prSet>
      <dgm:spPr/>
    </dgm:pt>
    <dgm:pt modelId="{7CB3570D-5726-4021-A954-935BFDBE56CC}" type="pres">
      <dgm:prSet presAssocID="{1AAD8175-43A4-4EFC-A4E2-87C50D05DB8C}" presName="sibTrans" presStyleCnt="0"/>
      <dgm:spPr/>
    </dgm:pt>
    <dgm:pt modelId="{69DF462A-8034-42D7-BBCD-E8E5C48FFB1E}" type="pres">
      <dgm:prSet presAssocID="{17725EFF-E949-40B8-99D6-374D0C6073CF}" presName="compNode" presStyleCnt="0"/>
      <dgm:spPr/>
    </dgm:pt>
    <dgm:pt modelId="{0BA79B57-59B2-484D-89A9-ED978C28AED8}" type="pres">
      <dgm:prSet presAssocID="{17725EFF-E949-40B8-99D6-374D0C6073CF}" presName="bgRect" presStyleLbl="bgShp" presStyleIdx="1" presStyleCnt="3"/>
      <dgm:spPr/>
    </dgm:pt>
    <dgm:pt modelId="{D9F80343-7A6A-4029-8800-7F1B368EA38D}" type="pres">
      <dgm:prSet presAssocID="{17725EFF-E949-40B8-99D6-374D0C6073C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DDBDA9F8-6ACD-49EC-B247-81CAD819BE2E}" type="pres">
      <dgm:prSet presAssocID="{17725EFF-E949-40B8-99D6-374D0C6073CF}" presName="spaceRect" presStyleCnt="0"/>
      <dgm:spPr/>
    </dgm:pt>
    <dgm:pt modelId="{12E0F7D6-6D41-4553-8703-AF2E5F06F562}" type="pres">
      <dgm:prSet presAssocID="{17725EFF-E949-40B8-99D6-374D0C6073CF}" presName="parTx" presStyleLbl="revTx" presStyleIdx="1" presStyleCnt="3">
        <dgm:presLayoutVars>
          <dgm:chMax val="0"/>
          <dgm:chPref val="0"/>
        </dgm:presLayoutVars>
      </dgm:prSet>
      <dgm:spPr/>
    </dgm:pt>
    <dgm:pt modelId="{6EFC499B-7D8C-4A13-9EE3-940E685FC2CC}" type="pres">
      <dgm:prSet presAssocID="{9F77D74B-ADF4-48A3-BD39-3BACD3A97090}" presName="sibTrans" presStyleCnt="0"/>
      <dgm:spPr/>
    </dgm:pt>
    <dgm:pt modelId="{ED70DC6D-0295-4B94-A710-FB6DDCF47916}" type="pres">
      <dgm:prSet presAssocID="{B34A1F0F-8ECA-4500-B450-62E75E6F175E}" presName="compNode" presStyleCnt="0"/>
      <dgm:spPr/>
    </dgm:pt>
    <dgm:pt modelId="{8BB2E625-FEB4-482C-A97F-E1757E73068C}" type="pres">
      <dgm:prSet presAssocID="{B34A1F0F-8ECA-4500-B450-62E75E6F175E}" presName="bgRect" presStyleLbl="bgShp" presStyleIdx="2" presStyleCnt="3"/>
      <dgm:spPr/>
    </dgm:pt>
    <dgm:pt modelId="{C17BEDDF-27B8-4C42-8228-CF28681E6C4E}" type="pres">
      <dgm:prSet presAssocID="{B34A1F0F-8ECA-4500-B450-62E75E6F175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D19253B-A6EE-4D77-A91A-71BAF171A5F7}" type="pres">
      <dgm:prSet presAssocID="{B34A1F0F-8ECA-4500-B450-62E75E6F175E}" presName="spaceRect" presStyleCnt="0"/>
      <dgm:spPr/>
    </dgm:pt>
    <dgm:pt modelId="{4315C16E-946C-4236-93E4-3C26EB74188B}" type="pres">
      <dgm:prSet presAssocID="{B34A1F0F-8ECA-4500-B450-62E75E6F175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1E8740C-9056-4FD5-9F8E-6F6AAD830FD9}" type="presOf" srcId="{17725EFF-E949-40B8-99D6-374D0C6073CF}" destId="{12E0F7D6-6D41-4553-8703-AF2E5F06F562}" srcOrd="0" destOrd="0" presId="urn:microsoft.com/office/officeart/2018/2/layout/IconVerticalSolidList"/>
    <dgm:cxn modelId="{91141E12-54D1-41C3-AD33-FE6CA0538884}" srcId="{F17A2178-F594-41C4-9974-81AA266A7FF1}" destId="{17725EFF-E949-40B8-99D6-374D0C6073CF}" srcOrd="1" destOrd="0" parTransId="{4BA12844-2563-42E2-8662-9208F7F3766D}" sibTransId="{9F77D74B-ADF4-48A3-BD39-3BACD3A97090}"/>
    <dgm:cxn modelId="{EEA1512B-6D7B-4F68-A04F-C2665CA36447}" type="presOf" srcId="{F17A2178-F594-41C4-9974-81AA266A7FF1}" destId="{9EE0875B-AB2D-42FE-AE7D-1E9DE586EB66}" srcOrd="0" destOrd="0" presId="urn:microsoft.com/office/officeart/2018/2/layout/IconVerticalSolidList"/>
    <dgm:cxn modelId="{FB69766C-94EC-4B93-B705-42540D58721F}" srcId="{F17A2178-F594-41C4-9974-81AA266A7FF1}" destId="{880B2E1D-A56B-4C0F-894A-FC757A3996B0}" srcOrd="0" destOrd="0" parTransId="{7FADF0B0-4E2F-4D2A-A058-037E96251835}" sibTransId="{1AAD8175-43A4-4EFC-A4E2-87C50D05DB8C}"/>
    <dgm:cxn modelId="{218F1770-3BAF-437B-A020-1AC6033DCB14}" type="presOf" srcId="{880B2E1D-A56B-4C0F-894A-FC757A3996B0}" destId="{1072DAAB-C741-495D-9D18-BC54BB148828}" srcOrd="0" destOrd="0" presId="urn:microsoft.com/office/officeart/2018/2/layout/IconVerticalSolidList"/>
    <dgm:cxn modelId="{E348DA9B-F1B1-4046-8D95-D427A7B30FB3}" type="presOf" srcId="{B34A1F0F-8ECA-4500-B450-62E75E6F175E}" destId="{4315C16E-946C-4236-93E4-3C26EB74188B}" srcOrd="0" destOrd="0" presId="urn:microsoft.com/office/officeart/2018/2/layout/IconVerticalSolidList"/>
    <dgm:cxn modelId="{56196DAD-7C26-40C4-9BD1-10BC681C0A35}" srcId="{F17A2178-F594-41C4-9974-81AA266A7FF1}" destId="{B34A1F0F-8ECA-4500-B450-62E75E6F175E}" srcOrd="2" destOrd="0" parTransId="{E33936A7-CA60-46A1-840E-33B416CC76E8}" sibTransId="{9198A94E-6481-4DA8-BA35-DB01CECB7536}"/>
    <dgm:cxn modelId="{45C8067B-47D2-4E15-A79D-5040375E82BE}" type="presParOf" srcId="{9EE0875B-AB2D-42FE-AE7D-1E9DE586EB66}" destId="{9B524B2C-18D6-4392-A153-E2DE4B37DB08}" srcOrd="0" destOrd="0" presId="urn:microsoft.com/office/officeart/2018/2/layout/IconVerticalSolidList"/>
    <dgm:cxn modelId="{94F9C9B4-E7C9-4E29-A09A-9B917663B928}" type="presParOf" srcId="{9B524B2C-18D6-4392-A153-E2DE4B37DB08}" destId="{4BF840C2-58E1-470A-A0FF-BD2BBC84DF84}" srcOrd="0" destOrd="0" presId="urn:microsoft.com/office/officeart/2018/2/layout/IconVerticalSolidList"/>
    <dgm:cxn modelId="{116C0231-5155-401E-9FC0-C8F55635425E}" type="presParOf" srcId="{9B524B2C-18D6-4392-A153-E2DE4B37DB08}" destId="{9A6C62FA-4984-475C-95AF-8CE3A06331C5}" srcOrd="1" destOrd="0" presId="urn:microsoft.com/office/officeart/2018/2/layout/IconVerticalSolidList"/>
    <dgm:cxn modelId="{E78B6BD2-0DBE-4F29-AE25-4FADFEA52FD3}" type="presParOf" srcId="{9B524B2C-18D6-4392-A153-E2DE4B37DB08}" destId="{5026B08C-3282-4ECC-AF3F-436EB9314310}" srcOrd="2" destOrd="0" presId="urn:microsoft.com/office/officeart/2018/2/layout/IconVerticalSolidList"/>
    <dgm:cxn modelId="{DDF5FCE9-DB1A-4B3D-8F16-558BF380AF9E}" type="presParOf" srcId="{9B524B2C-18D6-4392-A153-E2DE4B37DB08}" destId="{1072DAAB-C741-495D-9D18-BC54BB148828}" srcOrd="3" destOrd="0" presId="urn:microsoft.com/office/officeart/2018/2/layout/IconVerticalSolidList"/>
    <dgm:cxn modelId="{DB9CCA78-5DC5-4E52-BFA6-8FE7103FA71A}" type="presParOf" srcId="{9EE0875B-AB2D-42FE-AE7D-1E9DE586EB66}" destId="{7CB3570D-5726-4021-A954-935BFDBE56CC}" srcOrd="1" destOrd="0" presId="urn:microsoft.com/office/officeart/2018/2/layout/IconVerticalSolidList"/>
    <dgm:cxn modelId="{1B7AE37F-29CF-4983-9E63-2D407C5CD791}" type="presParOf" srcId="{9EE0875B-AB2D-42FE-AE7D-1E9DE586EB66}" destId="{69DF462A-8034-42D7-BBCD-E8E5C48FFB1E}" srcOrd="2" destOrd="0" presId="urn:microsoft.com/office/officeart/2018/2/layout/IconVerticalSolidList"/>
    <dgm:cxn modelId="{F34B586F-2689-45DB-883E-C9369896F712}" type="presParOf" srcId="{69DF462A-8034-42D7-BBCD-E8E5C48FFB1E}" destId="{0BA79B57-59B2-484D-89A9-ED978C28AED8}" srcOrd="0" destOrd="0" presId="urn:microsoft.com/office/officeart/2018/2/layout/IconVerticalSolidList"/>
    <dgm:cxn modelId="{1B233B09-D1A0-449D-935B-67020033E006}" type="presParOf" srcId="{69DF462A-8034-42D7-BBCD-E8E5C48FFB1E}" destId="{D9F80343-7A6A-4029-8800-7F1B368EA38D}" srcOrd="1" destOrd="0" presId="urn:microsoft.com/office/officeart/2018/2/layout/IconVerticalSolidList"/>
    <dgm:cxn modelId="{0FA9FAF9-DA40-45B1-A9A6-4BDF7362096E}" type="presParOf" srcId="{69DF462A-8034-42D7-BBCD-E8E5C48FFB1E}" destId="{DDBDA9F8-6ACD-49EC-B247-81CAD819BE2E}" srcOrd="2" destOrd="0" presId="urn:microsoft.com/office/officeart/2018/2/layout/IconVerticalSolidList"/>
    <dgm:cxn modelId="{E93F71EE-899F-40AE-8376-38C5F102F1FC}" type="presParOf" srcId="{69DF462A-8034-42D7-BBCD-E8E5C48FFB1E}" destId="{12E0F7D6-6D41-4553-8703-AF2E5F06F562}" srcOrd="3" destOrd="0" presId="urn:microsoft.com/office/officeart/2018/2/layout/IconVerticalSolidList"/>
    <dgm:cxn modelId="{238EF797-6B99-4CFA-A6B4-B02AFB9BD36B}" type="presParOf" srcId="{9EE0875B-AB2D-42FE-AE7D-1E9DE586EB66}" destId="{6EFC499B-7D8C-4A13-9EE3-940E685FC2CC}" srcOrd="3" destOrd="0" presId="urn:microsoft.com/office/officeart/2018/2/layout/IconVerticalSolidList"/>
    <dgm:cxn modelId="{3158B832-4F84-4753-8565-E56565CB56C1}" type="presParOf" srcId="{9EE0875B-AB2D-42FE-AE7D-1E9DE586EB66}" destId="{ED70DC6D-0295-4B94-A710-FB6DDCF47916}" srcOrd="4" destOrd="0" presId="urn:microsoft.com/office/officeart/2018/2/layout/IconVerticalSolidList"/>
    <dgm:cxn modelId="{4E49188C-4D66-4831-9D45-732005DFDC44}" type="presParOf" srcId="{ED70DC6D-0295-4B94-A710-FB6DDCF47916}" destId="{8BB2E625-FEB4-482C-A97F-E1757E73068C}" srcOrd="0" destOrd="0" presId="urn:microsoft.com/office/officeart/2018/2/layout/IconVerticalSolidList"/>
    <dgm:cxn modelId="{C5976DD1-1923-43C3-878A-B7805073A61B}" type="presParOf" srcId="{ED70DC6D-0295-4B94-A710-FB6DDCF47916}" destId="{C17BEDDF-27B8-4C42-8228-CF28681E6C4E}" srcOrd="1" destOrd="0" presId="urn:microsoft.com/office/officeart/2018/2/layout/IconVerticalSolidList"/>
    <dgm:cxn modelId="{91A5375C-E7AF-42EC-8A83-3613B3597466}" type="presParOf" srcId="{ED70DC6D-0295-4B94-A710-FB6DDCF47916}" destId="{CD19253B-A6EE-4D77-A91A-71BAF171A5F7}" srcOrd="2" destOrd="0" presId="urn:microsoft.com/office/officeart/2018/2/layout/IconVerticalSolidList"/>
    <dgm:cxn modelId="{E61108B4-BA23-47E9-9280-4AD06B512FCF}" type="presParOf" srcId="{ED70DC6D-0295-4B94-A710-FB6DDCF47916}" destId="{4315C16E-946C-4236-93E4-3C26EB74188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6091D-8D94-4D49-8C20-99C91FCB1D09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44B6E-F0EC-419D-A0D0-89E64D92F1A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DE0D9-DA2C-4F70-B4F1-28D651301F9B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latin typeface="Aptos Display" panose="02110004020202020204"/>
            </a:rPr>
            <a:t>Monte</a:t>
          </a:r>
          <a:r>
            <a:rPr lang="en-US" sz="2500" kern="1200"/>
            <a:t> Carlo: models system-level revenue under five scenarios, answers the policy question</a:t>
          </a:r>
        </a:p>
      </dsp:txBody>
      <dsp:txXfrm>
        <a:off x="1437631" y="531"/>
        <a:ext cx="9077968" cy="1244702"/>
      </dsp:txXfrm>
    </dsp:sp>
    <dsp:sp modelId="{8A45270F-F8C3-436C-94AB-0499D7BE2011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E5EAC-BBB4-4779-9CB9-C9031F88E458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4620D-2263-43F9-936E-8917A9DAB172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Linear Regression: identifies which features drive team revenue, answers the interpretability question</a:t>
          </a:r>
        </a:p>
      </dsp:txBody>
      <dsp:txXfrm>
        <a:off x="1437631" y="1556410"/>
        <a:ext cx="9077968" cy="1244702"/>
      </dsp:txXfrm>
    </dsp:sp>
    <dsp:sp modelId="{E29051BA-F0E2-4F88-8231-E7503FA85B00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B0997E-93CC-4307-A878-6F2C506AE234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98AC9-1BB4-4CCF-9C55-20E9C4EE4AB8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Random Forest: maximizes predictive accuracy on unseen data, answers the validation question</a:t>
          </a:r>
        </a:p>
      </dsp:txBody>
      <dsp:txXfrm>
        <a:off x="1437631" y="3112289"/>
        <a:ext cx="90779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F840C2-58E1-470A-A0FF-BD2BBC84DF84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6C62FA-4984-475C-95AF-8CE3A06331C5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2DAAB-C741-495D-9D18-BC54BB148828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Adopt relegation expands meaningful competition from 11.9% to 31.3% of programs, generating a projected $10.5B premium over 10 years</a:t>
          </a:r>
        </a:p>
      </dsp:txBody>
      <dsp:txXfrm>
        <a:off x="1437631" y="531"/>
        <a:ext cx="9077968" cy="1244702"/>
      </dsp:txXfrm>
    </dsp:sp>
    <dsp:sp modelId="{0BA79B57-59B2-484D-89A9-ED978C28AED8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F80343-7A6A-4029-8800-7F1B368EA38D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0F7D6-6D41-4553-8703-AF2E5F06F562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Implement revenue floors: set at the 5th percentile of historical volatility per tier (65%, 88%, 95%)</a:t>
          </a:r>
        </a:p>
      </dsp:txBody>
      <dsp:txXfrm>
        <a:off x="1437631" y="1556410"/>
        <a:ext cx="9077968" cy="1244702"/>
      </dsp:txXfrm>
    </dsp:sp>
    <dsp:sp modelId="{8BB2E625-FEB4-482C-A97F-E1757E73068C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7BEDDF-27B8-4C42-8228-CF28681E6C4E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15C16E-946C-4236-93E4-3C26EB74188B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Prioritize competitive breadth: 16-team playoff yields identical 2.59% CAGR to the current baseline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82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998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379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49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74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82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07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725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56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271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9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7798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orange letter with a black background&#10;&#10;AI-generated content may be incorrect.">
            <a:extLst>
              <a:ext uri="{FF2B5EF4-FFF2-40B4-BE49-F238E27FC236}">
                <a16:creationId xmlns:a16="http://schemas.microsoft.com/office/drawing/2014/main" id="{1DA7BF50-86A3-C415-B347-659AA79B82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3" r="2" b="1811"/>
          <a:stretch>
            <a:fillRect/>
          </a:stretch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8908B86-1E7D-0E70-B3E7-9FA1B767B83D}"/>
              </a:ext>
            </a:extLst>
          </p:cNvPr>
          <p:cNvSpPr txBox="1">
            <a:spLocks/>
          </p:cNvSpPr>
          <p:nvPr/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/>
              <a:t>An Economic Simulation Analysis of NCAA Football Relegation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FF13C2D-4601-C8E1-055E-03927115EAD1}"/>
              </a:ext>
            </a:extLst>
          </p:cNvPr>
          <p:cNvSpPr txBox="1">
            <a:spLocks/>
          </p:cNvSpPr>
          <p:nvPr/>
        </p:nvSpPr>
        <p:spPr>
          <a:xfrm>
            <a:off x="477981" y="4872922"/>
            <a:ext cx="3933306" cy="12081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/>
              <a:t>By: Connor Lynch</a:t>
            </a:r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92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984B69-17EB-3A3F-884D-F7CCE15C7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000">
                <a:ea typeface="+mj-lt"/>
                <a:cs typeface="+mj-lt"/>
              </a:rPr>
              <a:t>The Current System Leaves 88% of Programs Without Meaningful Stakes</a:t>
            </a:r>
            <a:endParaRPr lang="en-US" sz="3000"/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28B4C-799D-17B6-DA13-27951B1B7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134 FBS programs generate ~$6B annually but revenue is heavily concentrated at the top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The 12-team playoff creates high stakes for fewer than 12% of programs each season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European relegation creates meaningful financial consequences at every level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Would a three-tier relegation structure generate more total revenue?</a:t>
            </a:r>
            <a:endParaRPr lang="en-US" sz="2000"/>
          </a:p>
          <a:p>
            <a:endParaRPr lang="en-US" sz="200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8D87C4DA-8B8D-F592-1DB4-72DB961DC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245413"/>
            <a:ext cx="5458968" cy="436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23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1F8A3-F2DA-529A-E25C-F86345E86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Three Models, One Question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42CBEB-FAF7-7341-8A1D-8ADE256110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520230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777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D65BBA-F993-8CD6-4F33-C4F5C9744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A Decade of Data Across 134 Programs and Five European Leagues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3B650-2289-90E2-3DF7-9FFF34FF4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NCAA Sources: USA Today, Knight Newhouse, College Football Reference, 247Sports, individual athletic department pages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Key variables: total revenue, expenses, media rights, ticket sales, attendance, stadium capacity, donations, NIL spending, revenue rank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European Data: UEFA club reports across England, Germany, Spain, France, and Italy — three tiers per country, 2015-2023 — used to calibrate tier multipliers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Missing data filled using conference-third positional averaging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733483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F1EA9-A8B2-2753-C777-CD7DB7450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000">
                <a:ea typeface="+mj-lt"/>
                <a:cs typeface="+mj-lt"/>
              </a:rPr>
              <a:t>Revenue Is Concentrated and Volatile</a:t>
            </a:r>
            <a:endParaRPr lang="en-US" sz="500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D2DD-0AA0-2068-D3B5-2CF0E3D8D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Median year-over-year growth is only 1.4% with SD of 16.5%</a:t>
            </a:r>
          </a:p>
          <a:p>
            <a:r>
              <a:rPr lang="en-US" sz="2200">
                <a:ea typeface="+mn-lt"/>
                <a:cs typeface="+mn-lt"/>
              </a:rPr>
              <a:t>Bottom programs reach as low as 60% of baseline revenue in bad years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Organic recovery is difficult once a program falls behind</a:t>
            </a:r>
          </a:p>
          <a:p>
            <a:r>
              <a:rPr lang="en-US" sz="2200">
                <a:ea typeface="+mn-lt"/>
                <a:cs typeface="+mn-lt"/>
              </a:rPr>
              <a:t>High volatility with low median growth makes the status quo financially precarious for smaller programs</a:t>
            </a:r>
            <a:endParaRPr lang="en-US" sz="2200"/>
          </a:p>
          <a:p>
            <a:endParaRPr lang="en-US" sz="2200"/>
          </a:p>
          <a:p>
            <a:endParaRPr lang="en-US" sz="2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4F361D-59E1-1258-2EBD-11A1FD82D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693" y="839902"/>
            <a:ext cx="4294363" cy="2587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97AE05-F67F-9CE5-8472-FF18CB1EB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125" y="3720605"/>
            <a:ext cx="4291621" cy="2467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05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1385A-6E72-1F4F-C564-B1CB330D0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2600">
                <a:ea typeface="+mj-lt"/>
                <a:cs typeface="+mj-lt"/>
              </a:rPr>
              <a:t>Conference Membership Determines the Revenue Ceiling</a:t>
            </a:r>
            <a:endParaRPr lang="en-US" sz="260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F7E07-5B50-828B-9485-6E018D6CE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Attendance and revenue are strongly correlated (r = 0.79)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Group of 5 programs plateau at low revenue regardless of attendance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Top programs rarely fall below 95% of baseline revenue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Bottom programs reach as low as 60% of baseline, directly calibrating the Tier 3 revenue floor</a:t>
            </a:r>
            <a:endParaRPr lang="en-US" sz="1700"/>
          </a:p>
          <a:p>
            <a:endParaRPr lang="en-US" sz="1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F182FE-FE90-5276-BA80-91AEB2A63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012698"/>
            <a:ext cx="6903720" cy="483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209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41745-BBEC-F465-59BA-7FF59F4D4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7016" y="905011"/>
            <a:ext cx="4589328" cy="1889135"/>
          </a:xfrm>
        </p:spPr>
        <p:txBody>
          <a:bodyPr anchor="b">
            <a:normAutofit/>
          </a:bodyPr>
          <a:lstStyle/>
          <a:p>
            <a:r>
              <a:rPr lang="en-US" sz="3700">
                <a:ea typeface="+mj-lt"/>
                <a:cs typeface="+mj-lt"/>
              </a:rPr>
              <a:t>Teams That Improve Their Rank Grow Revenue 9.80% Faster</a:t>
            </a:r>
            <a:endParaRPr lang="en-US" sz="3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E1B35-9540-4D51-5119-7CE0C104D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07" y="1784115"/>
            <a:ext cx="5468347" cy="328100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32610-D995-4363-48CB-9388D6867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016" y="2965592"/>
            <a:ext cx="4589328" cy="298739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Measured from 1,002 team-year observations, 2015-2024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Historical finding from the data, not a model prediction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This single parameter drives the entire Monte Carlo relegation scenario</a:t>
            </a:r>
            <a:endParaRPr lang="en-US" sz="1800"/>
          </a:p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296400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EFD644-29A6-9DFE-828D-98026E1BE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000">
                <a:ea typeface="+mj-lt"/>
                <a:cs typeface="+mj-lt"/>
              </a:rPr>
              <a:t>Prior Revenue Dominates All Other Predictors</a:t>
            </a:r>
            <a:endParaRPr lang="en-US" sz="300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DC824-FE82-9A8F-8D12-0B16F3FEC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727037"/>
            <a:ext cx="6894576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>
                <a:ea typeface="+mn-lt"/>
                <a:cs typeface="+mn-lt"/>
              </a:rPr>
              <a:t>M5 full model wins on holdout test RMSE: Test R² = 0.996, RMSE = $2.80M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LASSO kept only 3 of 12 features confirming 9 are redundant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F-statistic = 66,410 (p &lt; 0.001), Adjusted R² = 0.9957</a:t>
            </a:r>
            <a:endParaRPr lang="en-US" sz="1900"/>
          </a:p>
          <a:p>
            <a:endParaRPr lang="en-US" sz="190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C5D1D51A-AD44-5163-DD78-A60EF1916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342587"/>
            <a:ext cx="10917936" cy="185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116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76BA0-7D62-B805-F45D-C579EE253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000">
                <a:ea typeface="+mj-lt"/>
                <a:cs typeface="+mj-lt"/>
              </a:rPr>
              <a:t>Conference and Tier Determine Long-Run Revenue Trajectory</a:t>
            </a:r>
            <a:endParaRPr lang="en-US" sz="30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F9FBB-DB05-4912-2B02-011144CE0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Optimal RF: 1,200 trees, mtry = 4, min.node.size = 1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Test R² = 0.998, RMSE = $1.91M, MAPE = 2.85%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Tuning improved RMSE 6.6% over default specification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Conference (#3) and Tier (#5) rank above all growth rate features (#8-13)</a:t>
            </a:r>
            <a:endParaRPr lang="en-US" sz="2200"/>
          </a:p>
          <a:p>
            <a:endParaRPr lang="en-US" sz="220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59C31059-F5EE-AE25-AD19-91D14692F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706340"/>
            <a:ext cx="5458968" cy="544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10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70A143-547F-FF31-36D3-9ACE29EE7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994" y="3580862"/>
            <a:ext cx="4215063" cy="2398713"/>
          </a:xfrm>
        </p:spPr>
        <p:txBody>
          <a:bodyPr>
            <a:normAutofit/>
          </a:bodyPr>
          <a:lstStyle/>
          <a:p>
            <a:r>
              <a:rPr lang="en-US" sz="3700" dirty="0">
                <a:ea typeface="+mj-lt"/>
                <a:cs typeface="+mj-lt"/>
              </a:rPr>
              <a:t>The Status Quo Flatlines </a:t>
            </a:r>
            <a:br>
              <a:rPr lang="en-US" sz="3700" dirty="0">
                <a:ea typeface="+mj-lt"/>
                <a:cs typeface="+mj-lt"/>
              </a:rPr>
            </a:br>
            <a:r>
              <a:rPr lang="en-US" sz="3700">
                <a:ea typeface="+mj-lt"/>
                <a:cs typeface="+mj-lt"/>
              </a:rPr>
              <a:t>Relegation Changes </a:t>
            </a:r>
            <a:r>
              <a:rPr lang="en-US" sz="3700" dirty="0">
                <a:ea typeface="+mj-lt"/>
                <a:cs typeface="+mj-lt"/>
              </a:rPr>
              <a:t>Everything</a:t>
            </a:r>
            <a:endParaRPr lang="en-US" sz="37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CF5097-9C70-8F8A-CFEB-16161D665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5" y="924009"/>
            <a:ext cx="9875259" cy="172816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0D755-78EE-F59F-DB4B-21A5DB297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LR and RF both project ~0% CAGR confirming no organic growth driver exists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Monte Carlo relegation projects 9.80% CAGR reaching $18.1B by 2034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$10.5B gap driven entirely by expanding meaningful competition from 11.9% to 31.3% of programs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080334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8E2766-74F4-3A57-37A4-A0798ED42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Data-Driven Recommendations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BAEF91-45D2-7F64-4220-29F95675F9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186336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4077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82CA70-5289-0A38-7DFA-6A70F02F4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Limitations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013A5-EA80-B0AC-7F4B-A17839500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/>
              <a:t>Limitations:</a:t>
            </a:r>
            <a:endParaRPr lang="en-US"/>
          </a:p>
          <a:p>
            <a:r>
              <a:rPr lang="en-US" sz="2000"/>
              <a:t>Engagement premium uses rank improvement as a proxy, not direct fan demand data</a:t>
            </a:r>
          </a:p>
          <a:p>
            <a:r>
              <a:rPr lang="en-US" sz="2000"/>
              <a:t>European multipliers dampened to 60% without a known NCAA equivalent</a:t>
            </a:r>
          </a:p>
          <a:p>
            <a:r>
              <a:rPr lang="en-US" sz="2000"/>
              <a:t>ML models capture status quo only, cannot model behavioral responses to relegation</a:t>
            </a:r>
          </a:p>
          <a:p>
            <a:endParaRPr lang="en-US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711BFD-239E-BE0C-1ADF-DEE38E28A0AF}"/>
              </a:ext>
            </a:extLst>
          </p:cNvPr>
          <p:cNvSpPr txBox="1">
            <a:spLocks/>
          </p:cNvSpPr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Next Steps: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Incorporate TV ratings, ticket pricing, and merchandise data for a direct causal estimate of the engagement premium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Extend the Monte Carlo to model individual program investment responses to relegation incentives such as increased recruiting spend and facility upgrades</a:t>
            </a:r>
            <a:endParaRPr lang="en-US"/>
          </a:p>
          <a:p>
            <a:r>
              <a:rPr lang="en-US" sz="2000" dirty="0">
                <a:ea typeface="+mn-lt"/>
                <a:cs typeface="+mn-lt"/>
              </a:rPr>
              <a:t>Collect post-2024 data as the expanded 12-team playoff matures to test whether competitive intensity actually increases under the new format</a:t>
            </a:r>
            <a:endParaRPr lang="en-US" dirty="0"/>
          </a:p>
          <a:p>
            <a:endParaRPr lang="en-US" sz="2000" dirty="0"/>
          </a:p>
          <a:p>
            <a:pPr marL="0"/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46327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2ABE0-85D4-EBD0-75DC-513EDD8F7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orange letter with a black background&#10;&#10;AI-generated content may be incorrect.">
            <a:extLst>
              <a:ext uri="{FF2B5EF4-FFF2-40B4-BE49-F238E27FC236}">
                <a16:creationId xmlns:a16="http://schemas.microsoft.com/office/drawing/2014/main" id="{B3F1C689-6A7F-4A3C-74C2-C52F4D5416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3" r="2" b="1811"/>
          <a:stretch>
            <a:fillRect/>
          </a:stretch>
        </p:blipFill>
        <p:spPr>
          <a:xfrm>
            <a:off x="4991158" y="640080"/>
            <a:ext cx="6540891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9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01679-6C89-CCAC-FDFC-0D9E98D0F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>
                <a:latin typeface="+mj-lt"/>
                <a:ea typeface="+mj-ea"/>
                <a:cs typeface="+mj-cs"/>
              </a:rPr>
              <a:t>Appendix A</a:t>
            </a:r>
            <a:r>
              <a:rPr lang="en-US" sz="5200"/>
              <a:t> - </a:t>
            </a:r>
            <a:r>
              <a:rPr lang="en-US" sz="5200">
                <a:ea typeface="+mj-lt"/>
                <a:cs typeface="+mj-lt"/>
              </a:rPr>
              <a:t>Full LR coefficient table</a:t>
            </a:r>
            <a:endParaRPr lang="en-US">
              <a:ea typeface="+mj-lt"/>
              <a:cs typeface="+mj-lt"/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44A162A6-38EF-C094-B709-16BC76FA7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415" y="1845426"/>
            <a:ext cx="10172117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395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D73AD-35C0-06E5-971A-EF7098048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Appendix B — RF grid search top 10 table</a:t>
            </a:r>
            <a:endParaRPr lang="en-US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D99E408B-EB68-560A-C84C-D12C1D246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397" y="1562100"/>
            <a:ext cx="5816414" cy="4932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547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2EF0C0-464A-B942-9257-27B721CE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Appendix C — RF full variable importance rankings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0A3002-135B-AF40-DDFB-DFF246431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731" y="2354239"/>
            <a:ext cx="8822537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0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D6A6F-9B9F-6D5E-A361-FDC6460F6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ea typeface="+mj-lt"/>
                <a:cs typeface="+mj-lt"/>
              </a:rPr>
              <a:t>Appendix D — LR actual vs predicted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FC5712-6666-FB1A-FA7A-33E6B7E54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445" y="1690968"/>
            <a:ext cx="6698316" cy="450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7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C5FDE-CDC3-CD9C-B9D7-2309EE8BD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Appendix E — RF actual vs predicted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F31B72-9220-BF42-8AF0-5B68D0A25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398" y="1845426"/>
            <a:ext cx="7706151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0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F089D3-E4A1-1A02-46E7-DCCE83CB9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latin typeface="+mj-lt"/>
                <a:ea typeface="+mj-ea"/>
                <a:cs typeface="+mj-cs"/>
              </a:rPr>
              <a:t>Appendix F — CAGR bar chart across all four models</a:t>
            </a:r>
            <a:endParaRPr lang="en-US">
              <a:ea typeface="+mj-ea"/>
              <a:cs typeface="+mj-cs"/>
            </a:endParaRPr>
          </a:p>
        </p:txBody>
      </p:sp>
      <p:pic>
        <p:nvPicPr>
          <p:cNvPr id="4" name="Picture 3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464FE475-CE82-4709-9782-608ADCBCF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335" y="1845426"/>
            <a:ext cx="8558276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48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The Current System Leaves 88% of Programs Without Meaningful Stakes</vt:lpstr>
      <vt:lpstr>Three Models, One Question</vt:lpstr>
      <vt:lpstr>A Decade of Data Across 134 Programs and Five European Leagues</vt:lpstr>
      <vt:lpstr>Revenue Is Concentrated and Volatile</vt:lpstr>
      <vt:lpstr>Conference Membership Determines the Revenue Ceiling</vt:lpstr>
      <vt:lpstr>Teams That Improve Their Rank Grow Revenue 9.80% Faster</vt:lpstr>
      <vt:lpstr>Prior Revenue Dominates All Other Predictors</vt:lpstr>
      <vt:lpstr>Conference and Tier Determine Long-Run Revenue Trajectory</vt:lpstr>
      <vt:lpstr>The Status Quo Flatlines  Relegation Changes Everything</vt:lpstr>
      <vt:lpstr>Data-Driven Recommendations</vt:lpstr>
      <vt:lpstr>Limitations and Next Steps</vt:lpstr>
      <vt:lpstr>Questions?</vt:lpstr>
      <vt:lpstr>Appendix A - Full LR coefficient table</vt:lpstr>
      <vt:lpstr>Appendix B — RF grid search top 10 table</vt:lpstr>
      <vt:lpstr>Appendix C — RF full variable importance rankings</vt:lpstr>
      <vt:lpstr>Appendix D — LR actual vs predicted</vt:lpstr>
      <vt:lpstr>Appendix E — RF actual vs predicted</vt:lpstr>
      <vt:lpstr>Appendix F — CAGR bar chart across all four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173</cp:revision>
  <dcterms:created xsi:type="dcterms:W3CDTF">2026-04-23T02:38:56Z</dcterms:created>
  <dcterms:modified xsi:type="dcterms:W3CDTF">2026-04-23T04:18:52Z</dcterms:modified>
</cp:coreProperties>
</file>